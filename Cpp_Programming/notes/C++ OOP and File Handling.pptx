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71" r:id="rId14"/>
    <p:sldId id="269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4.xml"/><Relationship Id="rId7" Type="http://schemas.openxmlformats.org/officeDocument/2006/relationships/image" Target="../media/image15.png"/><Relationship Id="rId6" Type="http://schemas.openxmlformats.org/officeDocument/2006/relationships/tags" Target="../tags/tag3.xml"/><Relationship Id="rId5" Type="http://schemas.openxmlformats.org/officeDocument/2006/relationships/image" Target="../media/image14.png"/><Relationship Id="rId4" Type="http://schemas.openxmlformats.org/officeDocument/2006/relationships/tags" Target="../tags/tag2.xml"/><Relationship Id="rId3" Type="http://schemas.openxmlformats.org/officeDocument/2006/relationships/image" Target="../media/image13.png"/><Relationship Id="rId26" Type="http://schemas.openxmlformats.org/officeDocument/2006/relationships/slideLayout" Target="../slideLayouts/slideLayout7.xml"/><Relationship Id="rId25" Type="http://schemas.openxmlformats.org/officeDocument/2006/relationships/image" Target="../media/image21.png"/><Relationship Id="rId24" Type="http://schemas.openxmlformats.org/officeDocument/2006/relationships/tags" Target="../tags/tag15.xml"/><Relationship Id="rId23" Type="http://schemas.openxmlformats.org/officeDocument/2006/relationships/image" Target="../media/image20.png"/><Relationship Id="rId22" Type="http://schemas.openxmlformats.org/officeDocument/2006/relationships/tags" Target="../tags/tag14.xml"/><Relationship Id="rId21" Type="http://schemas.openxmlformats.org/officeDocument/2006/relationships/image" Target="../media/image19.png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18.png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image" Target="../media/image17.png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40455" y="2630834"/>
            <a:ext cx="8711088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1" i="0" u="none">
                <a:solidFill>
                  <a:srgbClr val="F8FAFC"/>
                </a:solidFill>
                <a:latin typeface="Poppins"/>
              </a:rPr>
              <a:t>OOP &amp; File Handling in C++</a:t>
            </a:r>
            <a:endParaRPr sz="4800" b="1" i="0" u="none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47862" y="3484215"/>
            <a:ext cx="8096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A visual, beginner-friendly guide to Object-Oriented Programming, practical code examples, and persistent data management</a:t>
            </a:r>
            <a:endParaRPr sz="1650" b="0" i="0" u="none">
              <a:solidFill>
                <a:srgbClr val="38BDF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5650" y="2995612"/>
            <a:ext cx="5600700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Poppins"/>
              </a:rPr>
              <a:t>Core OOP Concepts</a:t>
            </a:r>
            <a:endParaRPr sz="4200" b="1" i="0" u="none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19425" y="3957637"/>
            <a:ext cx="61531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Understanding real-world modeling using C++ Classes and Objects</a:t>
            </a:r>
            <a:endParaRPr sz="15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35968"/>
            <a:ext cx="5353050" cy="18240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35968"/>
            <a:ext cx="5353050" cy="18240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50506"/>
            <a:ext cx="5353050" cy="1581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4050506"/>
            <a:ext cx="5353050" cy="1581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312193"/>
            <a:ext cx="504063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1. Encapsulation</a:t>
            </a:r>
            <a:endParaRPr sz="1800" b="0" i="0" u="none">
              <a:solidFill>
                <a:srgbClr val="38BDF8"/>
              </a:solidFill>
              <a:latin typeface="Poppi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7725" y="2740818"/>
            <a:ext cx="48006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Bundling data (variables) and functions into a single unit (class) while restricting direct access using private and public specifiers.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43675" y="2312193"/>
            <a:ext cx="504063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2. Abstraction</a:t>
            </a:r>
            <a:endParaRPr sz="1800" b="0" i="0" u="none">
              <a:solidFill>
                <a:srgbClr val="38BDF8"/>
              </a:solidFill>
              <a:latin typeface="Poppi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43675" y="2740818"/>
            <a:ext cx="48006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Hiding background details and complex implementations, revealing only essential interfaces to the user for simplicity.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7725" y="4326731"/>
            <a:ext cx="504063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3. Inheritance</a:t>
            </a:r>
            <a:endParaRPr sz="1800" b="0" i="0" u="none">
              <a:solidFill>
                <a:srgbClr val="38BDF8"/>
              </a:solidFill>
              <a:latin typeface="Poppins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7725" y="4755356"/>
            <a:ext cx="48006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Creating new classes from existing ones, enabling code reusability and hierarchical relationship modeling.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43675" y="4326731"/>
            <a:ext cx="504063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4. Polymorphism</a:t>
            </a:r>
            <a:endParaRPr sz="1800" b="0" i="0" u="none">
              <a:solidFill>
                <a:srgbClr val="38BDF8"/>
              </a:solidFill>
              <a:latin typeface="Poppins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43675" y="4755356"/>
            <a:ext cx="48006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Allowing functions or objects to take multiple forms (e.g., function overloading and virtual function overriding).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The 4 Pillars of OOP</a:t>
            </a:r>
            <a:endParaRPr sz="2700" b="0" i="0" u="none">
              <a:solidFill>
                <a:srgbClr val="F8FAFC"/>
              </a:solidFill>
              <a:latin typeface="Poppi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571625" y="1833562"/>
            <a:ext cx="9048750" cy="847725"/>
          </a:xfrm>
          <a:prstGeom prst="roundRect">
            <a:avLst>
              <a:gd name="adj" fmla="val 898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2005012"/>
            <a:ext cx="83248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Class as a Blueprint: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A class defines what data members and methods an object will have (e.g., a Car blueprint specifying color and speed).</a:t>
            </a:r>
            <a:endParaRPr sz="1275" b="0" i="0" u="none">
              <a:solidFill>
                <a:srgbClr val="CBD5E1"/>
              </a:solidFill>
              <a:latin typeface="Inte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71625" y="2833687"/>
            <a:ext cx="9048750" cy="847725"/>
          </a:xfrm>
          <a:prstGeom prst="roundRect">
            <a:avLst>
              <a:gd name="adj" fmla="val 898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5025" y="3005137"/>
            <a:ext cx="83248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Object as an Instance: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An object is a real-world entity created from the class blueprint, occupying actual memory space.</a:t>
            </a:r>
            <a:endParaRPr sz="1275" b="0" i="0" u="none">
              <a:solidFill>
                <a:srgbClr val="CBD5E1"/>
              </a:solidFill>
              <a:latin typeface="Inter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571625" y="3833812"/>
            <a:ext cx="9048750" cy="847725"/>
          </a:xfrm>
          <a:prstGeom prst="roundRect">
            <a:avLst>
              <a:gd name="adj" fmla="val 898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5025" y="4005262"/>
            <a:ext cx="83248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Access Specifiers: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Controls member visibility. Private members are accessible only inside the class, while Public members form the interface.</a:t>
            </a:r>
            <a:endParaRPr sz="1275" b="0" i="0" u="none">
              <a:solidFill>
                <a:srgbClr val="CBD5E1"/>
              </a:solidFill>
              <a:latin typeface="Inte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71625" y="4833937"/>
            <a:ext cx="9048750" cy="847725"/>
          </a:xfrm>
          <a:prstGeom prst="roundRect">
            <a:avLst>
              <a:gd name="adj" fmla="val 898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5025" y="5005387"/>
            <a:ext cx="83248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Constructors &amp; Destructors: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Special functions executed automatically when an object is created or destroyed for setup and cleanup.</a:t>
            </a:r>
            <a:endParaRPr sz="1275" b="0" i="0" u="none">
              <a:solidFill>
                <a:srgbClr val="CBD5E1"/>
              </a:solidFill>
              <a:latin typeface="Int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71625" y="2671762"/>
            <a:ext cx="9048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71625" y="3671887"/>
            <a:ext cx="9048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71625" y="4672012"/>
            <a:ext cx="9048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71625" y="5672137"/>
            <a:ext cx="9048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2047875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3048000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0" y="4048125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0" y="5048250"/>
            <a:ext cx="238125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Classes and Objects</a:t>
            </a:r>
            <a:endParaRPr sz="2700" b="0" i="0" u="none">
              <a:solidFill>
                <a:srgbClr val="F8FAFC"/>
              </a:solidFill>
              <a:latin typeface="Poppi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2119312"/>
            <a:ext cx="535305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050" y="2119312"/>
            <a:ext cx="51435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Base &amp; Derived Classes: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Derived classes inherit attributes from a base class using simple syntax: 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class Student : public Person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1050" y="2962275"/>
            <a:ext cx="5143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Function Overriding: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Redefining a base class method inside a derived class to provide custom behavior.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1050" y="3562350"/>
            <a:ext cx="5143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Virtual Functions: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Using the 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virtual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keyword enables dynamic binding (runtime polymorphism).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1050" y="4162425"/>
            <a:ext cx="5143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Cleaner Code Architecture: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Keeps your code organized, modular, and easy to maintain as systems grow.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975" y="2128837"/>
            <a:ext cx="5334000" cy="3409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2119312"/>
            <a:ext cx="76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38BDF8"/>
                </a:solidFill>
                <a:latin typeface="Inter"/>
              </a:rPr>
              <a:t>▸</a:t>
            </a:r>
            <a:endParaRPr sz="1275" b="0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2962275"/>
            <a:ext cx="76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38BDF8"/>
                </a:solidFill>
                <a:latin typeface="Inter"/>
              </a:rPr>
              <a:t>▸</a:t>
            </a:r>
            <a:endParaRPr sz="1275" b="0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500" y="3562350"/>
            <a:ext cx="76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38BDF8"/>
                </a:solidFill>
                <a:latin typeface="Inter"/>
              </a:rPr>
              <a:t>▸</a:t>
            </a:r>
            <a:endParaRPr sz="1275" b="0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" y="4162425"/>
            <a:ext cx="76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38BDF8"/>
                </a:solidFill>
                <a:latin typeface="Inter"/>
              </a:rPr>
              <a:t>▸</a:t>
            </a:r>
            <a:endParaRPr sz="1275" b="0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Inheritance &amp; Polymorphism</a:t>
            </a:r>
            <a:endParaRPr sz="2700" b="0" i="0" u="none">
              <a:solidFill>
                <a:srgbClr val="F8FAFC"/>
              </a:solidFill>
              <a:latin typeface="Poppi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0649" y="2995612"/>
            <a:ext cx="5610701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Poppins"/>
              </a:rPr>
              <a:t>File Handling in C++</a:t>
            </a:r>
            <a:endParaRPr sz="4200" b="1" i="0" u="none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67075" y="3957637"/>
            <a:ext cx="56578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Saving data permanently using C++ Input/Output File Streams</a:t>
            </a:r>
            <a:endParaRPr sz="15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71500" y="2438400"/>
            <a:ext cx="3530649" cy="2790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330749" y="2438400"/>
            <a:ext cx="3530649" cy="2790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089999" y="2438400"/>
            <a:ext cx="3530649" cy="2790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47725" y="2714625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10"/>
            </p:custDataLst>
          </p:nvPr>
        </p:nvSpPr>
        <p:spPr>
          <a:xfrm>
            <a:off x="847725" y="3438525"/>
            <a:ext cx="113014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ofstream</a:t>
            </a:r>
            <a:endParaRPr sz="1800" b="0" i="0" u="none">
              <a:solidFill>
                <a:srgbClr val="38BDF8"/>
              </a:solidFill>
              <a:latin typeface="Poppins SemiBold"/>
            </a:endParaRPr>
          </a:p>
        </p:txBody>
      </p:sp>
      <p:sp>
        <p:nvSpPr>
          <p:cNvPr id="8" name="TextBox 7"/>
          <p:cNvSpPr txBox="1"/>
          <p:nvPr>
            <p:custDataLst>
              <p:tags r:id="rId11"/>
            </p:custDataLst>
          </p:nvPr>
        </p:nvSpPr>
        <p:spPr>
          <a:xfrm>
            <a:off x="847725" y="3867150"/>
            <a:ext cx="29781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Output File Stream used to create files and write data to disk. Automatically creates the file if it does not exist.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606974" y="2714625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>
            <p:custDataLst>
              <p:tags r:id="rId14"/>
            </p:custDataLst>
          </p:nvPr>
        </p:nvSpPr>
        <p:spPr>
          <a:xfrm>
            <a:off x="4606974" y="3438525"/>
            <a:ext cx="104013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ifstream</a:t>
            </a:r>
            <a:endParaRPr sz="1800" b="0" i="0" u="none">
              <a:solidFill>
                <a:srgbClr val="38BDF8"/>
              </a:solidFill>
              <a:latin typeface="Poppins SemiBold"/>
            </a:endParaRPr>
          </a:p>
        </p:txBody>
      </p:sp>
      <p:sp>
        <p:nvSpPr>
          <p:cNvPr id="11" name="TextBox 10"/>
          <p:cNvSpPr txBox="1"/>
          <p:nvPr>
            <p:custDataLst>
              <p:tags r:id="rId15"/>
            </p:custDataLst>
          </p:nvPr>
        </p:nvSpPr>
        <p:spPr>
          <a:xfrm>
            <a:off x="4606974" y="3867150"/>
            <a:ext cx="29781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Input File Stream used to open existing files and read stored data line-by-line or character-by-character.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366224" y="2714625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>
            <p:custDataLst>
              <p:tags r:id="rId18"/>
            </p:custDataLst>
          </p:nvPr>
        </p:nvSpPr>
        <p:spPr>
          <a:xfrm>
            <a:off x="8366224" y="3438525"/>
            <a:ext cx="98012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fstream</a:t>
            </a:r>
            <a:endParaRPr sz="1800" b="0" i="0" u="none">
              <a:solidFill>
                <a:srgbClr val="38BDF8"/>
              </a:solidFill>
              <a:latin typeface="Poppins SemiBold"/>
            </a:endParaRPr>
          </a:p>
        </p:txBody>
      </p:sp>
      <p:sp>
        <p:nvSpPr>
          <p:cNvPr id="14" name="TextBox 13"/>
          <p:cNvSpPr txBox="1"/>
          <p:nvPr>
            <p:custDataLst>
              <p:tags r:id="rId19"/>
            </p:custDataLst>
          </p:nvPr>
        </p:nvSpPr>
        <p:spPr>
          <a:xfrm>
            <a:off x="8366224" y="3867150"/>
            <a:ext cx="29781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Combined File Stream capable of both reading and writing simultaneously. Requires open mode flags like 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ios::in | ios::out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14412" y="2847975"/>
            <a:ext cx="2000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4773662" y="2847975"/>
            <a:ext cx="2000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8499574" y="2847975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C++ Stream Classes</a:t>
            </a:r>
            <a:endParaRPr sz="2700" b="0" i="0" u="none">
              <a:solidFill>
                <a:srgbClr val="F8FAFC"/>
              </a:solidFill>
              <a:latin typeface="Poppin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2119312"/>
            <a:ext cx="535305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050" y="2119312"/>
            <a:ext cx="5143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Opening Files: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Use stream constructors or 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file.open("data.txt", ios::app)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to append new records.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1050" y="2719387"/>
            <a:ext cx="5143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Writing Data: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Standard insertion operators (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file &lt;&lt; "Text"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) format text directly into files.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1050" y="3319462"/>
            <a:ext cx="5143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Reading Data: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Use 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getline(file, line)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in a 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while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loop to read line by line until EOF.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1050" y="3919537"/>
            <a:ext cx="5143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Closing Files: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Always call 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file.close()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to release file locks and flush memory buffers.</a:t>
            </a:r>
            <a:endParaRPr sz="1275" b="0" i="0" u="none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975" y="2128837"/>
            <a:ext cx="5334000" cy="3409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2119312"/>
            <a:ext cx="76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38BDF8"/>
                </a:solidFill>
                <a:latin typeface="Inter"/>
              </a:rPr>
              <a:t>▸</a:t>
            </a:r>
            <a:endParaRPr sz="1275" b="0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2719387"/>
            <a:ext cx="76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38BDF8"/>
                </a:solidFill>
                <a:latin typeface="Inter"/>
              </a:rPr>
              <a:t>▸</a:t>
            </a:r>
            <a:endParaRPr sz="1275" b="0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500" y="3319462"/>
            <a:ext cx="76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38BDF8"/>
                </a:solidFill>
                <a:latin typeface="Inter"/>
              </a:rPr>
              <a:t>▸</a:t>
            </a:r>
            <a:endParaRPr sz="1275" b="0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" y="3919537"/>
            <a:ext cx="76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38BDF8"/>
                </a:solidFill>
                <a:latin typeface="Inter"/>
              </a:rPr>
              <a:t>▸</a:t>
            </a:r>
            <a:endParaRPr sz="1275" b="0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Reading &amp; Writing Files</a:t>
            </a:r>
            <a:endParaRPr sz="2700" b="0" i="0" u="none">
              <a:solidFill>
                <a:srgbClr val="F8FAFC"/>
              </a:solidFill>
              <a:latin typeface="Poppi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15" y="0"/>
            <a:ext cx="12192000" cy="685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1500" y="476250"/>
            <a:ext cx="1160145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>
                <a:solidFill>
                  <a:srgbClr val="F8FAFC"/>
                </a:solidFill>
                <a:latin typeface="Poppins SemiBold"/>
                <a:sym typeface="+mn-ea"/>
              </a:rPr>
              <a:t> </a:t>
            </a:r>
            <a:r>
              <a:rPr sz="2700">
                <a:solidFill>
                  <a:srgbClr val="F8FAFC"/>
                </a:solidFill>
                <a:latin typeface="Poppins SemiBold"/>
                <a:sym typeface="+mn-ea"/>
              </a:rPr>
              <a:t>Basic File I/O</a:t>
            </a:r>
            <a:r>
              <a:rPr lang="en-US" sz="2700">
                <a:solidFill>
                  <a:srgbClr val="F8FAFC"/>
                </a:solidFill>
                <a:latin typeface="Poppins SemiBold"/>
                <a:sym typeface="+mn-ea"/>
              </a:rPr>
              <a:t> Operations </a:t>
            </a:r>
            <a:endParaRPr sz="2700" b="0" i="0" u="none">
              <a:solidFill>
                <a:srgbClr val="F8FAFC"/>
              </a:solidFill>
              <a:latin typeface="Poppins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54380" y="1721485"/>
            <a:ext cx="5339080" cy="3869055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GB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1240155" y="2780030"/>
            <a:ext cx="4472940" cy="2366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6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three main classes used for file operations are:</a:t>
            </a:r>
            <a:endParaRPr lang="en-US" altLang="en-GB" sz="160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b="1">
                <a:solidFill>
                  <a:srgbClr val="38BDF8"/>
                </a:solidFill>
                <a:latin typeface="Poppins SemiBold"/>
                <a:sym typeface="+mn-ea"/>
              </a:rPr>
              <a:t>ofstream</a:t>
            </a:r>
            <a:r>
              <a:rPr lang="en-US" b="1">
                <a:solidFill>
                  <a:srgbClr val="38BDF8"/>
                </a:solidFill>
                <a:latin typeface="Poppins SemiBold"/>
                <a:sym typeface="+mn-ea"/>
              </a:rPr>
              <a:t>:</a:t>
            </a:r>
            <a:r>
              <a:rPr lang="en-US" altLang="en-GB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GB" b="1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6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file stream. Used to create and write data to files.</a:t>
            </a:r>
            <a:endParaRPr lang="en-US" altLang="en-GB" sz="160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>
                <a:solidFill>
                  <a:srgbClr val="38BDF8"/>
                </a:solidFill>
                <a:latin typeface="Poppins SemiBold"/>
                <a:sym typeface="+mn-ea"/>
              </a:rPr>
              <a:t>i</a:t>
            </a:r>
            <a:r>
              <a:rPr b="1">
                <a:solidFill>
                  <a:srgbClr val="38BDF8"/>
                </a:solidFill>
                <a:latin typeface="Poppins SemiBold"/>
                <a:sym typeface="+mn-ea"/>
              </a:rPr>
              <a:t>fstream</a:t>
            </a:r>
            <a:r>
              <a:rPr lang="en-US" b="1">
                <a:solidFill>
                  <a:srgbClr val="38BDF8"/>
                </a:solidFill>
                <a:latin typeface="Poppins SemiBold"/>
                <a:sym typeface="+mn-ea"/>
              </a:rPr>
              <a:t>:</a:t>
            </a:r>
            <a:endParaRPr lang="en-US" b="1">
              <a:solidFill>
                <a:srgbClr val="38BDF8"/>
              </a:solidFill>
              <a:latin typeface="Poppins SemiBold"/>
              <a:sym typeface="+mn-ea"/>
            </a:endParaRPr>
          </a:p>
          <a:p>
            <a:r>
              <a:rPr lang="en-US" altLang="en-GB" sz="16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file stream. Used to read data from files.fstream: General file stream. Capable of both reading and writing.</a:t>
            </a:r>
            <a:endParaRPr lang="en-US" altLang="en-GB" sz="160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396365" y="2172335"/>
            <a:ext cx="4321175" cy="607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sz="2400" b="1">
                <a:solidFill>
                  <a:srgbClr val="38BDF8"/>
                </a:solidFill>
                <a:latin typeface="Poppins SemiBold"/>
                <a:sym typeface="+mn-ea"/>
              </a:rPr>
              <a:t>Classes </a:t>
            </a:r>
            <a:endParaRPr lang="en-US" sz="2400" b="1">
              <a:solidFill>
                <a:srgbClr val="38BDF8"/>
              </a:solidFill>
              <a:latin typeface="Poppins SemiBold"/>
              <a:sym typeface="+mn-ea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63665" y="1721485"/>
            <a:ext cx="4918075" cy="3870325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6781800" y="2004695"/>
            <a:ext cx="4321175" cy="607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endParaRPr lang="en-US" sz="2400" b="1">
              <a:solidFill>
                <a:srgbClr val="38BDF8"/>
              </a:solidFill>
              <a:latin typeface="Poppins SemiBold"/>
              <a:sym typeface="+mn-ea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6781800" y="2172335"/>
            <a:ext cx="4472940" cy="2861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2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 &lt;iostream&gt;</a:t>
            </a:r>
            <a:endParaRPr lang="en-US" altLang="en-GB" sz="1200" i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2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 &lt;fstream&gt;</a:t>
            </a:r>
            <a:endParaRPr lang="en-US" altLang="en-GB" sz="1200" i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namespace std;</a:t>
            </a:r>
            <a:endParaRPr lang="en-US" altLang="en-GB" sz="120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sz="120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200" i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main()</a:t>
            </a:r>
            <a:r>
              <a:rPr lang="en-US" altLang="en-GB"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endParaRPr lang="en-US" altLang="en-GB" sz="120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sz="1200" i="1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2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// Create and open a text file</a:t>
            </a:r>
            <a:endParaRPr lang="en-US" altLang="en-GB" sz="1200" i="1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ofstream MyFile("filename.txt");</a:t>
            </a:r>
            <a:endParaRPr lang="en-US" altLang="en-GB" sz="120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sz="120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2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// Write to the file</a:t>
            </a:r>
            <a:endParaRPr lang="en-US" altLang="en-GB" sz="1200" i="1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MyFile &lt;&lt; "Files can be tricky, but it is fun enough!";</a:t>
            </a:r>
            <a:endParaRPr lang="en-US" altLang="en-GB" sz="120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sz="120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2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// Close the file</a:t>
            </a:r>
            <a:endParaRPr lang="en-US" altLang="en-GB" sz="1200" i="1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MyFile.close();</a:t>
            </a:r>
            <a:endParaRPr lang="en-US" altLang="en-GB" sz="120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en-GB" sz="120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Persisting OOP Objects</a:t>
            </a:r>
            <a:endParaRPr sz="2700" b="0" i="0" u="none">
              <a:solidFill>
                <a:srgbClr val="F8FAFC"/>
              </a:solidFill>
              <a:latin typeface="Poppins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1285875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Saving Objects Directly</a:t>
            </a:r>
            <a:endParaRPr sz="1800" b="0" i="0" u="none">
              <a:solidFill>
                <a:srgbClr val="38BDF8"/>
              </a:solidFill>
              <a:latin typeface="Poppins SemiBold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556000" y="2729548"/>
            <a:ext cx="5080000" cy="321945"/>
          </a:xfrm>
          <a:prstGeom prst="rect">
            <a:avLst/>
          </a:prstGeom>
        </p:spPr>
        <p:txBody>
          <a:bodyPr>
            <a:spAutoFit/>
          </a:bodyPr>
          <a:p>
            <a:pPr>
              <a:spcBef>
                <a:spcPct val="0"/>
              </a:spcBef>
              <a:spcAft>
                <a:spcPct val="60000"/>
              </a:spcAft>
            </a:pPr>
            <a:r>
              <a:rPr sz="1500" b="1">
                <a:latin typeface="Google Sans"/>
                <a:ea typeface="Google Sans"/>
              </a:rPr>
              <a:t>Common File Opening Modes</a:t>
            </a:r>
            <a:endParaRPr sz="1500" b="1">
              <a:latin typeface="Google Sans"/>
              <a:ea typeface="Google Sans"/>
            </a:endParaRPr>
          </a:p>
        </p:txBody>
      </p:sp>
      <p:graphicFrame>
        <p:nvGraphicFramePr>
          <p:cNvPr id="7" name="Table 6"/>
          <p:cNvGraphicFramePr/>
          <p:nvPr>
            <p:custDataLst>
              <p:tags r:id="rId2"/>
            </p:custDataLst>
          </p:nvPr>
        </p:nvGraphicFramePr>
        <p:xfrm>
          <a:off x="871855" y="2316480"/>
          <a:ext cx="10485120" cy="2953385"/>
        </p:xfrm>
        <a:graphic>
          <a:graphicData uri="http://schemas.openxmlformats.org/drawingml/2006/table">
            <a:tbl>
              <a:tblPr/>
              <a:tblGrid>
                <a:gridCol w="3481705"/>
                <a:gridCol w="7003415"/>
              </a:tblGrid>
              <a:tr h="47244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B0F0"/>
                          </a:solidFill>
                          <a:latin typeface="Google Sans Text"/>
                          <a:ea typeface="Google Sans Text"/>
                        </a:rPr>
                        <a:t>Mode</a:t>
                      </a:r>
                      <a:endParaRPr sz="2400" b="1">
                        <a:solidFill>
                          <a:srgbClr val="00B0F0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00B0F0"/>
                          </a:solidFill>
                          <a:latin typeface="Google Sans Text"/>
                          <a:ea typeface="Google Sans Text"/>
                        </a:rPr>
                        <a:t>Description</a:t>
                      </a:r>
                      <a:endParaRPr sz="2400" b="1">
                        <a:solidFill>
                          <a:srgbClr val="00B0F0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82677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</a:rPr>
                        <a:t>std::ios::in</a:t>
                      </a:r>
                      <a:endParaRPr sz="1800" b="0">
                        <a:solidFill>
                          <a:schemeClr val="bg1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</a:rPr>
                        <a:t>Opens file for reading (default for ifstream).</a:t>
                      </a:r>
                      <a:endParaRPr sz="1800" b="0">
                        <a:solidFill>
                          <a:schemeClr val="bg1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827405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</a:rPr>
                        <a:t>std::ios::out</a:t>
                      </a:r>
                      <a:endParaRPr sz="1800" b="0">
                        <a:solidFill>
                          <a:schemeClr val="bg1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</a:rPr>
                        <a:t>Opens file for writing (default for ofstream, overwrites contents).</a:t>
                      </a:r>
                      <a:endParaRPr sz="1800" b="0">
                        <a:solidFill>
                          <a:schemeClr val="bg1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82677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</a:rPr>
                        <a:t>std::ios::app</a:t>
                      </a:r>
                      <a:endParaRPr sz="1800" b="0">
                        <a:solidFill>
                          <a:schemeClr val="bg1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800" b="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</a:rPr>
                        <a:t>Appends new data at the end of the file.</a:t>
                      </a:r>
                      <a:endParaRPr sz="1800" b="0">
                        <a:solidFill>
                          <a:schemeClr val="bg1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55545" y="2852737"/>
            <a:ext cx="7280910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200" b="1" i="0" u="none">
                <a:solidFill>
                  <a:srgbClr val="F8FAFC"/>
                </a:solidFill>
                <a:latin typeface="Poppins"/>
              </a:rPr>
              <a:t>Mini </a:t>
            </a:r>
            <a:r>
              <a:rPr sz="4200" b="1" i="0" u="none">
                <a:solidFill>
                  <a:srgbClr val="F8FAFC"/>
                </a:solidFill>
                <a:latin typeface="Poppins"/>
              </a:rPr>
              <a:t>Project Idea</a:t>
            </a:r>
            <a:endParaRPr sz="4200" b="1" i="0" u="none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52345" y="3814445"/>
            <a:ext cx="8273415" cy="576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altLang="en-GB" sz="1500" b="0" i="0" u="none">
                <a:solidFill>
                  <a:srgbClr val="94A3B8"/>
                </a:solidFill>
                <a:latin typeface="Inter"/>
              </a:rPr>
              <a:t>Input the total student count, followed by each student's name and score. Calculate and output the highest score alongside the corresponding student's name</a:t>
            </a:r>
            <a:endParaRPr lang="en-US" altLang="en-GB" sz="15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55545" y="2852737"/>
            <a:ext cx="7280910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200" b="1" i="0" u="none">
                <a:solidFill>
                  <a:srgbClr val="F8FAFC"/>
                </a:solidFill>
                <a:latin typeface="Poppins"/>
              </a:rPr>
              <a:t>Project Approach</a:t>
            </a:r>
            <a:endParaRPr lang="en-US" sz="4200" b="1" i="0" u="none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85085" y="3814445"/>
            <a:ext cx="7022465" cy="1442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lnSpc>
                <a:spcPts val="2250"/>
              </a:lnSpc>
              <a:buAutoNum type="arabicPeriod"/>
            </a:pPr>
            <a:r>
              <a:rPr lang="en-US" altLang="en-GB" sz="1500" b="1" i="0" u="none">
                <a:solidFill>
                  <a:srgbClr val="94A3B8"/>
                </a:solidFill>
                <a:latin typeface="Inter"/>
              </a:rPr>
              <a:t>Ask for the total number of students.</a:t>
            </a:r>
            <a:endParaRPr lang="en-US" altLang="en-GB" sz="1500" b="1" i="0" u="none">
              <a:solidFill>
                <a:srgbClr val="94A3B8"/>
              </a:solidFill>
              <a:latin typeface="Inter"/>
            </a:endParaRPr>
          </a:p>
          <a:p>
            <a:pPr marL="342900" indent="-342900" algn="l">
              <a:lnSpc>
                <a:spcPts val="2250"/>
              </a:lnSpc>
              <a:buAutoNum type="arabicPeriod"/>
            </a:pPr>
            <a:endParaRPr lang="en-US" altLang="en-GB" sz="1500" b="1" i="0" u="none">
              <a:solidFill>
                <a:srgbClr val="94A3B8"/>
              </a:solidFill>
              <a:latin typeface="Inter"/>
            </a:endParaRPr>
          </a:p>
          <a:p>
            <a:pPr marL="342900" indent="-342900" algn="l">
              <a:lnSpc>
                <a:spcPts val="2250"/>
              </a:lnSpc>
              <a:buAutoNum type="arabicPeriod"/>
            </a:pPr>
            <a:r>
              <a:rPr lang="en-US" altLang="en-GB" sz="1500" b="1" i="0" u="none">
                <a:solidFill>
                  <a:srgbClr val="94A3B8"/>
                </a:solidFill>
                <a:latin typeface="Inter"/>
              </a:rPr>
              <a:t>Collect each student's name and marks sequentially.</a:t>
            </a:r>
            <a:endParaRPr lang="en-US" altLang="en-GB" sz="1500" b="1" i="0" u="none">
              <a:solidFill>
                <a:srgbClr val="94A3B8"/>
              </a:solidFill>
              <a:latin typeface="Inter"/>
            </a:endParaRPr>
          </a:p>
          <a:p>
            <a:pPr marL="342900" indent="-342900" algn="l">
              <a:lnSpc>
                <a:spcPts val="2250"/>
              </a:lnSpc>
              <a:buAutoNum type="arabicPeriod"/>
            </a:pPr>
            <a:endParaRPr lang="en-US" altLang="en-GB" sz="1500" b="1" i="0" u="none">
              <a:solidFill>
                <a:srgbClr val="94A3B8"/>
              </a:solidFill>
              <a:latin typeface="Inter"/>
            </a:endParaRPr>
          </a:p>
          <a:p>
            <a:pPr marL="342900" indent="-342900" algn="l">
              <a:lnSpc>
                <a:spcPts val="2250"/>
              </a:lnSpc>
              <a:buAutoNum type="arabicPeriod"/>
            </a:pPr>
            <a:r>
              <a:rPr lang="en-US" altLang="en-GB" sz="1500" b="1" i="0" u="none">
                <a:solidFill>
                  <a:srgbClr val="94A3B8"/>
                </a:solidFill>
                <a:latin typeface="Inter"/>
              </a:rPr>
              <a:t>Determine and display the student who scored the highest marks.</a:t>
            </a:r>
            <a:endParaRPr lang="en-US" altLang="en-GB" sz="1500" b="1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975" y="4171950"/>
            <a:ext cx="4972050" cy="409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276475"/>
            <a:ext cx="11601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Poppins"/>
              </a:rPr>
              <a:t>Ready to Build?</a:t>
            </a:r>
            <a:endParaRPr sz="5400" b="1" i="0" u="none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3457575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You now have the roadmap and code examples to master OOP principles and File Streams in C++.</a:t>
            </a:r>
            <a:endParaRPr sz="1650" b="0" i="0" u="none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4295775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2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3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4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5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6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7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8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9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10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11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12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13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14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15.xml><?xml version="1.0" encoding="utf-8"?>
<p:tagLst xmlns:p="http://schemas.openxmlformats.org/presentationml/2006/main">
  <p:tag name="KSO_WM_DIAGRAM_VIRTUALLY_FRAME" val="{&quot;height&quot;:219.75,&quot;left&quot;:45,&quot;top&quot;:192,&quot;width&quot;:870.0116535433069}"/>
</p:tagLst>
</file>

<file path=ppt/tags/tag16.xml><?xml version="1.0" encoding="utf-8"?>
<p:tagLst xmlns:p="http://schemas.openxmlformats.org/presentationml/2006/main">
  <p:tag name="TABLE_ENDDRAG_ORIGIN_RECT" val="825*232"/>
  <p:tag name="TABLE_ENDDRAG_RECT" val="68*182*825*23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3883</Words>
  <Application>WPS Presentation</Application>
  <PresentationFormat>On-screen Show (4:3)</PresentationFormat>
  <Paragraphs>154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Arial</vt:lpstr>
      <vt:lpstr>Poppins</vt:lpstr>
      <vt:lpstr>Segoe Print</vt:lpstr>
      <vt:lpstr>Inter</vt:lpstr>
      <vt:lpstr>Poppins SemiBold</vt:lpstr>
      <vt:lpstr>Google Sans</vt:lpstr>
      <vt:lpstr>Google Sans Text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FAM Arif</cp:lastModifiedBy>
  <cp:revision>7</cp:revision>
  <dcterms:created xsi:type="dcterms:W3CDTF">2013-01-27T09:14:00Z</dcterms:created>
  <dcterms:modified xsi:type="dcterms:W3CDTF">2026-09-01T15:48:05Z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E2056085164241E7B4E65A5359A6D738_12</vt:lpwstr>
  </property>
  <property fmtid="{D5CDD505-2E9C-101B-9397-08002B2CF9AE}" pid="3" name="KSOProductBuildVer">
    <vt:lpwstr>2057-12.2.0.23206</vt:lpwstr>
  </property>
</Properties>
</file>